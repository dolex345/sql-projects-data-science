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84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154957374514237"/>
          <c:y val="5.9350236524426288E-2"/>
          <c:w val="0.6783628608923884"/>
          <c:h val="0.834403707349081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Turnover Rate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EF-448E-BF3E-DD72A74CD9A6}"/>
              </c:ext>
            </c:extLst>
          </c:dPt>
          <c:dPt>
            <c:idx val="1"/>
            <c:invertIfNegative val="0"/>
            <c:bubble3D val="0"/>
            <c:spPr>
              <a:solidFill>
                <a:srgbClr val="0F8B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EF-448E-BF3E-DD72A74CD9A6}"/>
              </c:ext>
            </c:extLst>
          </c:dPt>
          <c:dPt>
            <c:idx val="2"/>
            <c:invertIfNegative val="0"/>
            <c:bubble3D val="0"/>
            <c:spPr>
              <a:solidFill>
                <a:srgbClr val="F28C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EF-448E-BF3E-DD72A74CD9A6}"/>
              </c:ext>
            </c:extLst>
          </c:dPt>
          <c:dPt>
            <c:idx val="3"/>
            <c:invertIfNegative val="0"/>
            <c:bubble3D val="0"/>
            <c:spPr>
              <a:solidFill>
                <a:srgbClr val="E865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EF-448E-BF3E-DD72A74CD9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HR</c:v>
                </c:pt>
                <c:pt idx="1">
                  <c:v>Sales</c:v>
                </c:pt>
                <c:pt idx="2">
                  <c:v>Engineering</c:v>
                </c:pt>
                <c:pt idx="3">
                  <c:v>Marketing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27.27</c:v>
                </c:pt>
                <c:pt idx="1">
                  <c:v>27.59</c:v>
                </c:pt>
                <c:pt idx="2">
                  <c:v>66.67</c:v>
                </c:pt>
                <c:pt idx="3">
                  <c:v>92.86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EF-448E-BF3E-DD72A74CD9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5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2E-438D-885B-BBF35A0DB396}"/>
              </c:ext>
            </c:extLst>
          </c:dPt>
          <c:dPt>
            <c:idx val="1"/>
            <c:bubble3D val="0"/>
            <c:spPr>
              <a:solidFill>
                <a:srgbClr val="0F8B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E-438D-885B-BBF35A0DB396}"/>
              </c:ext>
            </c:extLst>
          </c:dPt>
          <c:dPt>
            <c:idx val="2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E-438D-885B-BBF35A0DB396}"/>
              </c:ext>
            </c:extLst>
          </c:dPt>
          <c:dPt>
            <c:idx val="3"/>
            <c:bubble3D val="0"/>
            <c:spPr>
              <a:solidFill>
                <a:srgbClr val="F28C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E-438D-885B-BBF35A0DB39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D2E-438D-885B-BBF35A0DB39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D2E-438D-885B-BBF35A0DB39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2E-438D-885B-BBF35A0DB39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D2E-438D-885B-BBF35A0DB39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Career Growth</c:v>
                </c:pt>
                <c:pt idx="1">
                  <c:v>Found Another Job</c:v>
                </c:pt>
                <c:pt idx="2">
                  <c:v>Personal</c:v>
                </c:pt>
                <c:pt idx="3">
                  <c:v>Retired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2E-438D-885B-BBF35A0DB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5628661227129218"/>
          <c:y val="5.1169590643274851E-2"/>
          <c:w val="0.69738935486325082"/>
          <c:h val="0.721100980798452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8B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339-43DE-8160-CD778B1DFB5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39-43DE-8160-CD778B1DFB51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39-43DE-8160-CD778B1DFB51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339-43DE-8160-CD778B1DFB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Sales</c:v>
                </c:pt>
                <c:pt idx="1">
                  <c:v>HR</c:v>
                </c:pt>
                <c:pt idx="2">
                  <c:v>Engineering</c:v>
                </c:pt>
                <c:pt idx="3">
                  <c:v>Marketing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4.0599999999999996</c:v>
                </c:pt>
                <c:pt idx="2">
                  <c:v>4.0999999999999996</c:v>
                </c:pt>
                <c:pt idx="3">
                  <c:v>4.18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39-43DE-8160-CD778B1DFB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47-41F1-9862-60747D1374C9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47-41F1-9862-60747D1374C9}"/>
              </c:ext>
            </c:extLst>
          </c:dPt>
          <c:dPt>
            <c:idx val="2"/>
            <c:invertIfNegative val="0"/>
            <c:bubble3D val="0"/>
            <c:spPr>
              <a:solidFill>
                <a:srgbClr val="158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47-41F1-9862-60747D1374C9}"/>
              </c:ext>
            </c:extLst>
          </c:dPt>
          <c:dPt>
            <c:idx val="3"/>
            <c:invertIfNegative val="0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47-41F1-9862-60747D1374C9}"/>
              </c:ext>
            </c:extLst>
          </c:dPt>
          <c:dPt>
            <c:idx val="4"/>
            <c:invertIfNegative val="0"/>
            <c:bubble3D val="0"/>
            <c:spPr>
              <a:solidFill>
                <a:srgbClr val="1453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47-41F1-9862-60747D1374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Marketing Specialist</c:v>
                </c:pt>
                <c:pt idx="1">
                  <c:v>Engineer</c:v>
                </c:pt>
                <c:pt idx="2">
                  <c:v>Sales Manager</c:v>
                </c:pt>
                <c:pt idx="3">
                  <c:v>HR Specialist</c:v>
                </c:pt>
                <c:pt idx="4">
                  <c:v>Sales Representative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77857</c:v>
                </c:pt>
                <c:pt idx="1">
                  <c:v>80000</c:v>
                </c:pt>
                <c:pt idx="2">
                  <c:v>80000</c:v>
                </c:pt>
                <c:pt idx="3">
                  <c:v>81818</c:v>
                </c:pt>
                <c:pt idx="4">
                  <c:v>84286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47-41F1-9862-60747D1374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($)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HR</c:v>
                </c:pt>
                <c:pt idx="2">
                  <c:v>Sales</c:v>
                </c:pt>
                <c:pt idx="3">
                  <c:v>Marketing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80000</c:v>
                </c:pt>
                <c:pt idx="1">
                  <c:v>81818</c:v>
                </c:pt>
                <c:pt idx="2">
                  <c:v>82069</c:v>
                </c:pt>
                <c:pt idx="3">
                  <c:v>77857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79-46F4-8DE4-068E79A0A1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 Score (x20k)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HR</c:v>
                </c:pt>
                <c:pt idx="2">
                  <c:v>Sales</c:v>
                </c:pt>
                <c:pt idx="3">
                  <c:v>Marketing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80200</c:v>
                </c:pt>
                <c:pt idx="1">
                  <c:v>82200</c:v>
                </c:pt>
                <c:pt idx="2">
                  <c:v>81400</c:v>
                </c:pt>
                <c:pt idx="3">
                  <c:v>83400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79-46F4-8DE4-068E79A0A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80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389120" cy="4389120"/>
          </a:xfrm>
          <a:prstGeom prst="ellipse">
            <a:avLst/>
          </a:prstGeom>
          <a:solidFill>
            <a:srgbClr val="E8651A">
              <a:alpha val="15000"/>
            </a:srgbClr>
          </a:solidFill>
          <a:ln w="12700">
            <a:solidFill>
              <a:srgbClr val="E8651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F28C4E">
              <a:alpha val="12000"/>
            </a:srgbClr>
          </a:solidFill>
          <a:ln w="12700">
            <a:solidFill>
              <a:srgbClr val="F28C4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51A"/>
                </a:solidFill>
              </a:rPr>
              <a:t>SQL CAPSTONE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Success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28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NextGen Corp.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3456432"/>
            <a:ext cx="3200400" cy="36576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Adedotun Isaac Ojo   ·   May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Retention  ·  Performance Tracking  ·  Salary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73152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NextGen Corp.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 Corp. is a growing technology company focused on developing innovative solutions in the software and hardware spaces.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prides itself on attracting top talent and maintaining high employee satisfaction to drive sustainable growth.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64008" cy="1078992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828032" y="1298448"/>
            <a:ext cx="502920" cy="502920"/>
          </a:xfrm>
          <a:prstGeom prst="ellipse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28032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1536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turnover rates threaten talent continuity and increase recruitment costs.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30428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64008" cy="1078992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828032" y="2505456"/>
            <a:ext cx="502920" cy="502920"/>
          </a:xfrm>
          <a:prstGeom prst="ellipse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828032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13248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13248" y="2743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performance across departments signals need for targeted improvement.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511296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709160" y="3511296"/>
            <a:ext cx="64008" cy="1078992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828032" y="3712464"/>
            <a:ext cx="502920" cy="502920"/>
          </a:xfrm>
          <a:prstGeom prst="ellipse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828032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13248" y="3602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Disparities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3248" y="39502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compensation structures risk employee dissatisfaction and attrition.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C4E"/>
                </a:solidFill>
              </a:rPr>
              <a:t>GOAL  Optimize retention · Track performance consistently · Maintain fair salary structures across departments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E8651A">
              <a:alpha val="10000"/>
            </a:srgbClr>
          </a:solidFill>
          <a:ln w="12700">
            <a:solidFill>
              <a:srgbClr val="E865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651A"/>
                </a:solidFill>
              </a:rPr>
              <a:t>SECTION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11480" y="4041648"/>
            <a:ext cx="3200400" cy="4572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employee turnover trends and identify root causes of high turnover 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Retention  ·  Q1 &amp; Q2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97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97680" cy="54864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Top 5 Highest Serving Employees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08760"/>
          <a:ext cx="411480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Employee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Hire Date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David Moore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Jun 30, 2015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51A"/>
                          </a:solidFill>
                        </a:rPr>
                        <a:t>#1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Frank Smith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Sep 08, 2015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51A"/>
                          </a:solidFill>
                        </a:rPr>
                        <a:t>#2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Jane Brown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Oct 12, 2015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51A"/>
                          </a:solidFill>
                        </a:rPr>
                        <a:t>#3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John Johnson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Oct 27, 2015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51A"/>
                          </a:solidFill>
                        </a:rPr>
                        <a:t>#4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John Doe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Feb 16, 2016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651A"/>
                          </a:solidFill>
                        </a:rPr>
                        <a:t>#5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160520"/>
            <a:ext cx="4297680" cy="658368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274320" y="4160520"/>
            <a:ext cx="64008" cy="658368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411480" y="417880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All top 5 employees have served since 2015–2016. David Moore is the longest-serving employee. Retaining this institutional knowledge is critical.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489204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Turnover Rate by Department (%)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3402795569"/>
              </p:ext>
            </p:extLst>
          </p:nvPr>
        </p:nvGraphicFramePr>
        <p:xfrm>
          <a:off x="4800600" y="1508761"/>
          <a:ext cx="3931920" cy="2624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2"/>
          <p:cNvSpPr/>
          <p:nvPr/>
        </p:nvSpPr>
        <p:spPr>
          <a:xfrm>
            <a:off x="4754880" y="4160520"/>
            <a:ext cx="4114800" cy="658368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4754880" y="4160520"/>
            <a:ext cx="64008" cy="658368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4892040" y="41788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Marketing has a critical 92.86% turnover rate — nearly all staff left! Engineering follows at 66.67%. HR and Sales are more stable at ~27%.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Retention  ·  Q3 &amp; Q4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97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976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Employees At Risk (Avg Score &lt; 3.5)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64592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651A"/>
                </a:solidFill>
              </a:rPr>
              <a:t>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Employee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At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554480"/>
            <a:ext cx="2103120" cy="137160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2286000" y="15544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42316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Grace Wilson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Avg Score: 3.43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Engineering Dept.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Status: Already left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297680" cy="114300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News: No current employees score below 3.5. The only low-performer (Grace Wilson) has already left the company. All active staff are performing adequately.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79392"/>
            <a:ext cx="4297680" cy="54864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274320" y="4279392"/>
            <a:ext cx="64008" cy="54864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Recommendation: Implement quarterly check-ins for scores between 3.5–4.0 to prevent future risks.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89204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Main Reasons Employees Left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800600" y="150876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4754880" y="4160520"/>
            <a:ext cx="4114800" cy="658368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4754880" y="4160520"/>
            <a:ext cx="64008" cy="658368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6"/>
          <p:cNvSpPr/>
          <p:nvPr/>
        </p:nvSpPr>
        <p:spPr>
          <a:xfrm>
            <a:off x="4892040" y="41788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'Personal' reasons account for 39% of departures. 'Found Another Job' (25%) and 'Career Growth' (18%) suggest employees feel limited growth opportunities at NextGen.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F8B8D">
              <a:alpha val="12000"/>
            </a:srgbClr>
          </a:solidFill>
          <a:ln w="12700">
            <a:solidFill>
              <a:srgbClr val="0F8B8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F8B8D">
              <a:alpha val="8000"/>
            </a:srgbClr>
          </a:solidFill>
          <a:ln w="12700">
            <a:solidFill>
              <a:srgbClr val="0F8B8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F8B8D"/>
                </a:solidFill>
              </a:rPr>
              <a:t>SECTION 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3200400" cy="4572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Evaluate employee performance across departments and identify areas for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 ·  Q1, Q2 &amp; Q3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1993392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993392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56032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F4444"/>
                </a:solidFill>
              </a:rPr>
              <a:t>28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6032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Employees Left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the Company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1005840"/>
            <a:ext cx="1993392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432304" y="1005840"/>
            <a:ext cx="1993392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432304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C55E"/>
                </a:solidFill>
              </a:rPr>
              <a:t>9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2304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Employees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Score = 5.0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005840"/>
            <a:ext cx="1993392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608576" y="1005840"/>
            <a:ext cx="1993392" cy="54864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608576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651A"/>
                </a:solidFill>
              </a:rPr>
              <a:t>45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608576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Employees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Score &lt; 3.5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84848" y="1005840"/>
            <a:ext cx="1993392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784848" y="1005840"/>
            <a:ext cx="1993392" cy="54864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784848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8B8D"/>
                </a:solidFill>
              </a:rPr>
              <a:t>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784848" y="184708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Departments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Tracked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633472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256032" y="2633472"/>
            <a:ext cx="4114800" cy="54864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93192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Departments by Score 5.0 / Below 3.5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" y="3127248"/>
          <a:ext cx="4005072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 = 5.0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 &lt; 3.5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5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16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?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572000" y="2633472"/>
            <a:ext cx="43159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3"/>
          <p:cNvSpPr/>
          <p:nvPr/>
        </p:nvSpPr>
        <p:spPr>
          <a:xfrm>
            <a:off x="4572000" y="2633472"/>
            <a:ext cx="4315968" cy="54864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/>
          <p:nvPr/>
        </p:nvSpPr>
        <p:spPr>
          <a:xfrm>
            <a:off x="4709160" y="27066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Average Performance Score by Department</a:t>
            </a:r>
            <a:endParaRPr lang="en-US" sz="115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3989019473"/>
              </p:ext>
            </p:extLst>
          </p:nvPr>
        </p:nvGraphicFramePr>
        <p:xfrm>
          <a:off x="4572000" y="3021098"/>
          <a:ext cx="4206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5"/>
          <p:cNvSpPr/>
          <p:nvPr/>
        </p:nvSpPr>
        <p:spPr>
          <a:xfrm>
            <a:off x="256032" y="4663440"/>
            <a:ext cx="8631936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6"/>
          <p:cNvSpPr/>
          <p:nvPr/>
        </p:nvSpPr>
        <p:spPr>
          <a:xfrm>
            <a:off x="384048" y="4681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8C4E"/>
                </a:solidFill>
              </a:rPr>
              <a:t>💡  Marketing leads with 5 top scorers (5.0). Engineering has the most low scorers (16 below 3.5) — a priority area for improvement.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-914400"/>
            <a:ext cx="4754880" cy="475488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C55E"/>
                </a:solidFill>
              </a:rPr>
              <a:t>SECTION 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411480" y="3547872"/>
            <a:ext cx="320040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3703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Analyze salary distribution and ensure fair compensation based on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Analysis  ·  Q1, Q2, Q3 &amp; Q4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029968" cy="1261872"/>
          </a:xfrm>
          <a:prstGeom prst="rect">
            <a:avLst/>
          </a:prstGeom>
          <a:solidFill>
            <a:srgbClr val="0F202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29968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$4.85M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" y="17647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Total Salary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Expense (Q1)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29968" cy="1261872"/>
          </a:xfrm>
          <a:prstGeom prst="rect">
            <a:avLst/>
          </a:prstGeom>
          <a:solidFill>
            <a:srgbClr val="0F202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29968" cy="54864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468880" y="10789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651A"/>
                </a:solidFill>
              </a:rPr>
              <a:t>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7647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Above $80K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(Q3)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56032" y="2377440"/>
            <a:ext cx="41148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93192" y="24505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Average Salary by Job Title ($)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152588077"/>
              </p:ext>
            </p:extLst>
          </p:nvPr>
        </p:nvGraphicFramePr>
        <p:xfrm>
          <a:off x="301752" y="2852928"/>
          <a:ext cx="40690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0" y="1005840"/>
            <a:ext cx="4315968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4572000" y="1005840"/>
            <a:ext cx="4315968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470916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Salary vs Performance by Department</a:t>
            </a:r>
            <a:endParaRPr lang="en-US" sz="1200" dirty="0"/>
          </a:p>
        </p:txBody>
      </p:sp>
      <p:graphicFrame>
        <p:nvGraphicFramePr>
          <p:cNvPr id="20" name="Chart 1"/>
          <p:cNvGraphicFramePr/>
          <p:nvPr>
            <p:extLst>
              <p:ext uri="{D42A27DB-BD31-4B8C-83A1-F6EECF244321}">
                <p14:modId xmlns:p14="http://schemas.microsoft.com/office/powerpoint/2010/main" val="3663250824"/>
              </p:ext>
            </p:extLst>
          </p:nvPr>
        </p:nvGraphicFramePr>
        <p:xfrm>
          <a:off x="4617720" y="1508760"/>
          <a:ext cx="4178808" cy="3209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256032" y="4663440"/>
            <a:ext cx="8631936" cy="27432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8"/>
          <p:cNvSpPr/>
          <p:nvPr/>
        </p:nvSpPr>
        <p:spPr>
          <a:xfrm>
            <a:off x="384048" y="4681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💡  Sales earns the highest avg salary ($82,069) while Marketing leads performance (4.17). Higher pay doesn't always mean top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E8651A">
              <a:alpha val="10000"/>
            </a:srgbClr>
          </a:solidFill>
          <a:ln w="12700">
            <a:solidFill>
              <a:srgbClr val="E865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651A"/>
                </a:solidFill>
              </a:rPr>
              <a:t>CONCLUSION &amp;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 for HR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8503920" cy="1078992"/>
          </a:xfrm>
          <a:prstGeom prst="rect">
            <a:avLst/>
          </a:prstGeom>
          <a:solidFill>
            <a:srgbClr val="1220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64008" cy="1078992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438912" y="1444752"/>
            <a:ext cx="594360" cy="594360"/>
          </a:xfrm>
          <a:prstGeom prst="ellipse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SECTION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438912" y="1691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1A"/>
                </a:solidFill>
              </a:rPr>
              <a:t> Retention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7007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Marketing has a critical 92.86% turnover rate and Engineering 66.67%. 39% of leavers cited Personal reasons, while 25% Found Another Job.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56048" y="1389888"/>
            <a:ext cx="18288" cy="859536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7492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51A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career development programs and retention bonuses, especially for Marketing and Engineering departments.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1078992"/>
          </a:xfrm>
          <a:prstGeom prst="rect">
            <a:avLst/>
          </a:prstGeom>
          <a:solidFill>
            <a:srgbClr val="1220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64008" cy="1078992"/>
          </a:xfrm>
          <a:prstGeom prst="rect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438912" y="2651760"/>
            <a:ext cx="594360" cy="5943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38912" y="2651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SECTION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438912" y="28986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</a:rPr>
              <a:t> Performance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2907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All departments average above 3.7. Engineering leads with top scorers. Only 1 employee scored below 3.5 — and she has already left.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56048" y="2596896"/>
            <a:ext cx="18288" cy="859536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074920" y="2578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87121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quarterly performance tracking. Reward top performers (score 5.0) with recognition programs.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694176"/>
            <a:ext cx="8503920" cy="1078992"/>
          </a:xfrm>
          <a:prstGeom prst="rect">
            <a:avLst/>
          </a:prstGeom>
          <a:solidFill>
            <a:srgbClr val="12203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320040" y="3694176"/>
            <a:ext cx="64008" cy="10789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438912" y="3858768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38912" y="3858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SECTION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438912" y="41056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 Salary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5568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Total payroll is $4.85M. 26 employees earn above $80K. Sales earns the highest avg salary ($82,069) but Marketing leads in performance (4.17).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56048" y="3803904"/>
            <a:ext cx="18288" cy="859536"/>
          </a:xfrm>
          <a:prstGeom prst="rect">
            <a:avLst/>
          </a:prstGeom>
          <a:solidFill>
            <a:srgbClr val="2A3A4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074920" y="37856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Recommendation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salary benchmarking for Marketing. Tie salary increments directly to performance scores to better align pay with output.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65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NextGen Corp. Employee Success Analytics  ·  10Alytics SQL Capstone Project  ·  May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772</Words>
  <Application>Microsoft Office PowerPoint</Application>
  <PresentationFormat>On-screen Show 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Success Analytics – NextGen Corp.</dc:title>
  <dc:subject>PptxGenJS Presentation</dc:subject>
  <dc:creator>PptxGenJS</dc:creator>
  <cp:lastModifiedBy>Adedotun Ojo</cp:lastModifiedBy>
  <cp:revision>3</cp:revision>
  <dcterms:created xsi:type="dcterms:W3CDTF">2026-05-06T15:13:11Z</dcterms:created>
  <dcterms:modified xsi:type="dcterms:W3CDTF">2026-05-06T15:46:01Z</dcterms:modified>
</cp:coreProperties>
</file>